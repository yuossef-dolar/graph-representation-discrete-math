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062C5-AEF1-82DE-E7D2-616100DAB414}" v="120" dt="2026-05-16T15:05:34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ossef hany fathy" userId="S::y.hany2408@nu.edu.eg::09bb62cd-e3fe-4743-a3e6-cc831c35fe45" providerId="AD" clId="Web-{582062C5-AEF1-82DE-E7D2-616100DAB414}"/>
    <pc:docChg chg="delSld modSld">
      <pc:chgData name="yuossef hany fathy" userId="S::y.hany2408@nu.edu.eg::09bb62cd-e3fe-4743-a3e6-cc831c35fe45" providerId="AD" clId="Web-{582062C5-AEF1-82DE-E7D2-616100DAB414}" dt="2026-05-16T15:05:31.290" v="115"/>
      <pc:docMkLst>
        <pc:docMk/>
      </pc:docMkLst>
      <pc:sldChg chg="addSp modSp">
        <pc:chgData name="yuossef hany fathy" userId="S::y.hany2408@nu.edu.eg::09bb62cd-e3fe-4743-a3e6-cc831c35fe45" providerId="AD" clId="Web-{582062C5-AEF1-82DE-E7D2-616100DAB414}" dt="2026-05-16T15:04:58.867" v="114" actId="20577"/>
        <pc:sldMkLst>
          <pc:docMk/>
          <pc:sldMk cId="0" sldId="256"/>
        </pc:sldMkLst>
        <pc:spChg chg="mod">
          <ac:chgData name="yuossef hany fathy" userId="S::y.hany2408@nu.edu.eg::09bb62cd-e3fe-4743-a3e6-cc831c35fe45" providerId="AD" clId="Web-{582062C5-AEF1-82DE-E7D2-616100DAB414}" dt="2026-05-16T15:01:00.533" v="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yuossef hany fathy" userId="S::y.hany2408@nu.edu.eg::09bb62cd-e3fe-4743-a3e6-cc831c35fe45" providerId="AD" clId="Web-{582062C5-AEF1-82DE-E7D2-616100DAB414}" dt="2026-05-16T15:00:56.986" v="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yuossef hany fathy" userId="S::y.hany2408@nu.edu.eg::09bb62cd-e3fe-4743-a3e6-cc831c35fe45" providerId="AD" clId="Web-{582062C5-AEF1-82DE-E7D2-616100DAB414}" dt="2026-05-16T15:01:33.784" v="19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yuossef hany fathy" userId="S::y.hany2408@nu.edu.eg::09bb62cd-e3fe-4743-a3e6-cc831c35fe45" providerId="AD" clId="Web-{582062C5-AEF1-82DE-E7D2-616100DAB414}" dt="2026-05-16T15:01:38.644" v="20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yuossef hany fathy" userId="S::y.hany2408@nu.edu.eg::09bb62cd-e3fe-4743-a3e6-cc831c35fe45" providerId="AD" clId="Web-{582062C5-AEF1-82DE-E7D2-616100DAB414}" dt="2026-05-16T15:01:28.643" v="18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yuossef hany fathy" userId="S::y.hany2408@nu.edu.eg::09bb62cd-e3fe-4743-a3e6-cc831c35fe45" providerId="AD" clId="Web-{582062C5-AEF1-82DE-E7D2-616100DAB414}" dt="2026-05-16T15:04:58.867" v="114" actId="20577"/>
          <ac:spMkLst>
            <pc:docMk/>
            <pc:sldMk cId="0" sldId="256"/>
            <ac:spMk id="12" creationId="{1A512BAC-5B8A-DF64-3DFA-09959A825E72}"/>
          </ac:spMkLst>
        </pc:spChg>
      </pc:sldChg>
      <pc:sldChg chg="del">
        <pc:chgData name="yuossef hany fathy" userId="S::y.hany2408@nu.edu.eg::09bb62cd-e3fe-4743-a3e6-cc831c35fe45" providerId="AD" clId="Web-{582062C5-AEF1-82DE-E7D2-616100DAB414}" dt="2026-05-16T15:05:31.290" v="115"/>
        <pc:sldMkLst>
          <pc:docMk/>
          <pc:sldMk cId="0" sldId="266"/>
        </pc:sldMkLst>
      </pc:sldChg>
    </pc:docChg>
  </pc:docChgLst>
  <pc:docChgLst>
    <pc:chgData clId="Web-{582062C5-AEF1-82DE-E7D2-616100DAB414}"/>
    <pc:docChg chg="modSld">
      <pc:chgData name="" userId="" providerId="" clId="Web-{582062C5-AEF1-82DE-E7D2-616100DAB414}" dt="2026-05-16T15:00:35.736" v="0" actId="1076"/>
      <pc:docMkLst>
        <pc:docMk/>
      </pc:docMkLst>
      <pc:sldChg chg="modSp">
        <pc:chgData name="" userId="" providerId="" clId="Web-{582062C5-AEF1-82DE-E7D2-616100DAB414}" dt="2026-05-16T15:00:35.736" v="0" actId="1076"/>
        <pc:sldMkLst>
          <pc:docMk/>
          <pc:sldMk cId="0" sldId="256"/>
        </pc:sldMkLst>
        <pc:spChg chg="mod">
          <ac:chgData name="" userId="" providerId="" clId="Web-{582062C5-AEF1-82DE-E7D2-616100DAB414}" dt="2026-05-16T15:00:35.736" v="0" actId="1076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6CD8F-8F4D-4150-AA3D-95CAB0C446E7}" type="datetimeFigureOut"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B4823-3809-4FE8-9BAB-485D379578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53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1A2E4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91440"/>
            <a:ext cx="1645920" cy="1645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MATH113 — Discrete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Graph Representation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3563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Study of Storage Methods &amp; BFS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88976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5666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94A3B8"/>
                </a:solidFill>
                <a:ea typeface="Calibri"/>
                <a:cs typeface="Calibri"/>
              </a:rPr>
              <a:t>TA: Ahmed Khaled Sakr </a:t>
            </a:r>
            <a:endParaRPr lang="en-US" sz="1200" dirty="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  ·  Adjacency List  ·  Adjacency Matrix  ·  Edge List  ·  BFS</a:t>
            </a:r>
            <a:endParaRPr lang="en-US" sz="1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A512BAC-5B8A-DF64-3DFA-09959A825E72}"/>
              </a:ext>
            </a:extLst>
          </p:cNvPr>
          <p:cNvSpPr/>
          <p:nvPr/>
        </p:nvSpPr>
        <p:spPr>
          <a:xfrm>
            <a:off x="365760" y="2148840"/>
            <a:ext cx="777240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Yuossef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hany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fathy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-241002308</a:t>
            </a:r>
          </a:p>
          <a:p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Kareem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mohamed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-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241000977 </a:t>
            </a:r>
          </a:p>
          <a:p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Zeyad Mohamed - 241001031</a:t>
            </a:r>
            <a:endParaRPr lang="en-US" sz="1100">
              <a:highlight>
                <a:srgbClr val="FFFFFF"/>
              </a:highlight>
              <a:latin typeface="Cambria"/>
              <a:ea typeface="Cambria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Kareem 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sameh</a:t>
            </a:r>
            <a:r>
              <a:rPr lang="ar-SA" sz="1100" dirty="0">
                <a:solidFill>
                  <a:srgbClr val="000000"/>
                </a:solidFill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 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ibrahim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 – 231001126</a:t>
            </a:r>
          </a:p>
          <a:p>
            <a:r>
              <a:rPr lang="en-US" sz="1100" dirty="0"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Amr said </a:t>
            </a:r>
            <a:r>
              <a:rPr lang="en-US" sz="1100" dirty="0" err="1"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mohammad</a:t>
            </a:r>
            <a:r>
              <a:rPr lang="en-US" sz="1100" dirty="0">
                <a:highlight>
                  <a:srgbClr val="FFFFFF"/>
                </a:highlight>
                <a:latin typeface="Cambria"/>
                <a:ea typeface="Cambria"/>
                <a:cs typeface="Calibri"/>
              </a:rPr>
              <a:t>- 241002638</a:t>
            </a:r>
            <a:endParaRPr lang="en-US" sz="1100" dirty="0">
              <a:highlight>
                <a:srgbClr val="FFFFFF"/>
              </a:highlight>
              <a:latin typeface="Cambria"/>
              <a:ea typeface="Cambria"/>
            </a:endParaRPr>
          </a:p>
          <a:p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ambria"/>
              <a:ea typeface="Cambria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25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Graphs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Graph? Vertices, Edges, real-life examples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4767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677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structure, Python code, pros &amp; cons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06624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06624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0662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&amp; Edge 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026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structure, edge list, comparison of both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65576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65576"/>
            <a:ext cx="54864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6557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502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Algorithm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7856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steps, path A→G, time complexity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24528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245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2611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5445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table, why Adjacency List wins,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What is a Graph?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G = (V, E) is a mathematical model consisting of a set of Vertices V (nodes) and a set of Edges E (connections between those nodes).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023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4028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 (Nodes)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points or elements in the graph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vertex represents a real object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 our project: A, B, C, D, E, F, 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227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Notation: V = {A, B, C, D, E, F, G}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4023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240280"/>
            <a:ext cx="4023360" cy="38404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 (Connections)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links connecting two vertices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36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Represent a relationship or path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 our project: 11 edges total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9227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Notation: E = {(A,B),(A,D), ...}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Graphs in Real Life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 People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   Friendships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  Undirected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 Cities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   Roads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267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  Weighted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0896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 Servers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   Cables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  Directed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10896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 Accounts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   Follow links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  Directed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Our Project Graph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36192" y="1993392"/>
            <a:ext cx="1005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1993392"/>
            <a:ext cx="155448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1993392"/>
            <a:ext cx="274320" cy="1371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1353312"/>
            <a:ext cx="1280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22192" y="1353312"/>
            <a:ext cx="0" cy="1554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22192" y="1353312"/>
            <a:ext cx="457200" cy="1737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22192" y="1353312"/>
            <a:ext cx="118872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2907792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2907792"/>
            <a:ext cx="118872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3364992"/>
            <a:ext cx="2468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3090672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828800"/>
            <a:ext cx="329184" cy="32918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1188720"/>
            <a:ext cx="329184" cy="32918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188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1188720"/>
            <a:ext cx="329184" cy="32918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188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2743200"/>
            <a:ext cx="329184" cy="32918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0" y="3200400"/>
            <a:ext cx="329184" cy="32918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2926080"/>
            <a:ext cx="329184" cy="32918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828800"/>
            <a:ext cx="329184" cy="32918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1097280"/>
            <a:ext cx="3017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1097280"/>
            <a:ext cx="301752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097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Properties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60720" y="1600200"/>
            <a:ext cx="301752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16002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6002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2039112"/>
            <a:ext cx="30175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203911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23760" y="20391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2478024"/>
            <a:ext cx="301752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24780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23760" y="247802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(A–G)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2916936"/>
            <a:ext cx="30175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291693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0" y="291693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3355848"/>
            <a:ext cx="301752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33558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Edges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0" y="335584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 = 49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760720" y="3794760"/>
            <a:ext cx="30175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0" y="37947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7947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11/49 = 22%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60720" y="4233672"/>
            <a:ext cx="301752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42336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Type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23760" y="42336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Adjacency 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D1FAE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vertex stores a list of its neighbors. Only existing connections are saved — no wasted space.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83080"/>
            <a:ext cx="411480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365760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1762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B, D, 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4114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511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5511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A, 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365760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26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B, D, F, 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00984"/>
            <a:ext cx="4114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009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3009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A, C, E,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4114800" cy="365760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758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6758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A, D, 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50792"/>
            <a:ext cx="4114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507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40507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C, D, E, 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25696"/>
            <a:ext cx="4114800" cy="365760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256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4256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C, 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78308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783080"/>
            <a:ext cx="3931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2176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Uses less memory for sparse graphs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83480" y="25237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 to find all neighbors of a node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28712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to implement with lists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0" y="33832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383280"/>
            <a:ext cx="3931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383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376732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 to check if a specific edge exists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83480" y="40965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Edge lookup is O(n) in worst case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83480" y="442569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 ideal for dense graphs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Python Code: Adjacency 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0D1B2A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'A': ['B', 'D', 'E'],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'B': ['A', 'C'],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'C': ['B', 'D', 'F', 'G'],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'D': ['A', 'C', 'E', 'F'],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'E': ['A', 'D', 'F'],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'F': ['C', 'D', 'E', 'G'],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'G': ['C', 'F']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 the adjacency 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vertex in sorted(graph.keys()):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print(f"{vertex}: {graph[vertex]}")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D1FAE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Python dictionary — each key is a vertex, each value is the list of its neighbors.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Adjacency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where cell (i, j) = 1 if an edge exists between vertex i and vertex j, otherwise 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2688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08176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83664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59152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85616" y="171907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17190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2688" y="2103120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08176" y="2103120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08176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83664" y="2103120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59152" y="2103120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2103120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2103120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85616" y="2103120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85616" y="2103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2487168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32688" y="2487168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08176" y="248716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08176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83664" y="2487168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83664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59152" y="248716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248716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0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10128" y="248716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0128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785616" y="248716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85616" y="24871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2871216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32688" y="2871216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2688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408176" y="2871216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08176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883664" y="2871216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83664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359152" y="2871216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59152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834640" y="2871216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34640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310128" y="2871216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10128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785616" y="2871216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85616" y="28712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3255264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32688" y="3255264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2688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408176" y="3255264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408176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883664" y="3255264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83664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359152" y="3255264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59152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834640" y="3255264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310128" y="3255264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10128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785616" y="3255264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85616" y="32552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" y="3639312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932688" y="3639312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2688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408176" y="3639312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408176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883664" y="3639312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83664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359152" y="3639312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59152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2834640" y="3639312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834640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310128" y="3639312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10128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785616" y="3639312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85616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457200" y="4023360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32688" y="4023360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32688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408176" y="4023360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408176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1883664" y="4023360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883664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2359152" y="4023360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359152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2834640" y="4023360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834640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3310128" y="4023360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310128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785616" y="4023360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785616" y="4023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57200" y="4407408"/>
            <a:ext cx="475488" cy="384048"/>
          </a:xfrm>
          <a:prstGeom prst="rect">
            <a:avLst/>
          </a:prstGeom>
          <a:solidFill>
            <a:srgbClr val="1A2E4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57200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932688" y="440740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32688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1408176" y="440740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408176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1883664" y="4407408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883664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2359152" y="440740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59152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2834640" y="440740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834640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3310128" y="4407408"/>
            <a:ext cx="475488" cy="38404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310128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3785616" y="4407408"/>
            <a:ext cx="4754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785616" y="44074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5029200" y="1719072"/>
            <a:ext cx="3749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29200" y="1719072"/>
            <a:ext cx="3749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029200" y="1719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5166360" y="210312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 edge lookup: O(1)</a:t>
            </a:r>
            <a:endParaRPr lang="en-US" sz="1050" dirty="0"/>
          </a:p>
        </p:txBody>
      </p:sp>
      <p:sp>
        <p:nvSpPr>
          <p:cNvPr id="139" name="Text 137"/>
          <p:cNvSpPr/>
          <p:nvPr/>
        </p:nvSpPr>
        <p:spPr>
          <a:xfrm>
            <a:off x="5166360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Easy to implement</a:t>
            </a:r>
            <a:endParaRPr lang="en-US" sz="1050" dirty="0"/>
          </a:p>
        </p:txBody>
      </p:sp>
      <p:sp>
        <p:nvSpPr>
          <p:cNvPr id="140" name="Text 138"/>
          <p:cNvSpPr/>
          <p:nvPr/>
        </p:nvSpPr>
        <p:spPr>
          <a:xfrm>
            <a:off x="5166360" y="2761488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Works well for dense graphs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5029200" y="3273552"/>
            <a:ext cx="3749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29200" y="3273552"/>
            <a:ext cx="37490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029200" y="3273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00" dirty="0"/>
          </a:p>
        </p:txBody>
      </p:sp>
      <p:sp>
        <p:nvSpPr>
          <p:cNvPr id="144" name="Text 142"/>
          <p:cNvSpPr/>
          <p:nvPr/>
        </p:nvSpPr>
        <p:spPr>
          <a:xfrm>
            <a:off x="5166360" y="365760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Uses O(n²) memory always</a:t>
            </a:r>
            <a:endParaRPr lang="en-US" sz="1050" dirty="0"/>
          </a:p>
        </p:txBody>
      </p:sp>
      <p:sp>
        <p:nvSpPr>
          <p:cNvPr id="145" name="Text 143"/>
          <p:cNvSpPr/>
          <p:nvPr/>
        </p:nvSpPr>
        <p:spPr>
          <a:xfrm>
            <a:off x="5166360" y="398678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Wastes space when edges are few</a:t>
            </a:r>
            <a:endParaRPr lang="en-US" sz="1050" dirty="0"/>
          </a:p>
        </p:txBody>
      </p:sp>
      <p:sp>
        <p:nvSpPr>
          <p:cNvPr id="146" name="Text 144"/>
          <p:cNvSpPr/>
          <p:nvPr/>
        </p:nvSpPr>
        <p:spPr>
          <a:xfrm>
            <a:off x="5166360" y="4315968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 to list all neighbors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Edge 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representation — just a list of all edges in the graph, each written as a pair (u, v).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274320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2743200" cy="365760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7802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4780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52928"/>
            <a:ext cx="2743200" cy="365760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852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27832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27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02736"/>
            <a:ext cx="2743200" cy="365760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027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6027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(C, 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(C, F)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1719072"/>
            <a:ext cx="274320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7190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77640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2103120"/>
            <a:ext cx="2743200" cy="365760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7764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(C, 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2478024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247802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77640" y="24780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(D, 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2852928"/>
            <a:ext cx="2743200" cy="365760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77640" y="2852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(D, F)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3227832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227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77640" y="3227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(E, F)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0" y="3602736"/>
            <a:ext cx="2743200" cy="365760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36027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77640" y="36027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(F, G)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1719072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1719072"/>
            <a:ext cx="25603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1719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27648" y="210312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Most memory-efficient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27648" y="243230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Very simple to store and read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27648" y="276148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Good for data import/export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3246120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3246120"/>
            <a:ext cx="25603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3246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27648" y="363016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 for most graph algorithms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27648" y="395935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Finding neighbors requires a full scan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27648" y="428853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 suitable for large operations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BFS Algorithm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EDE9F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(Breadth-First Search) explores a graph level by level from a start node. It guarantees the shortest path in an unweighted graph.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node A. Add it to the Queue. Mark as visited.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1828800"/>
            <a:ext cx="1508760" cy="347472"/>
          </a:xfrm>
          <a:prstGeom prst="rect">
            <a:avLst/>
          </a:prstGeom>
          <a:solidFill>
            <a:srgbClr val="EDE9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828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[A]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6829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68296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86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4261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A. Visit all neighbors: B, D, E. Add them to Queue.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2459736"/>
            <a:ext cx="1508760" cy="347472"/>
          </a:xfrm>
          <a:prstGeom prst="rect">
            <a:avLst/>
          </a:prstGeom>
          <a:solidFill>
            <a:srgbClr val="EDE9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45973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[B, D, E]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9232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27355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B. Visit unvisited neighbor: C. Add to Queue.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3090672"/>
            <a:ext cx="1508760" cy="347472"/>
          </a:xfrm>
          <a:prstGeom prst="rect">
            <a:avLst/>
          </a:prstGeom>
          <a:solidFill>
            <a:srgbClr val="EDE9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30906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[D, E, C]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3016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30168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48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0448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D. Visit unvisited neighbor: F. Add to Queue.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3721608"/>
            <a:ext cx="1508760" cy="347472"/>
          </a:xfrm>
          <a:prstGeom prst="rect">
            <a:avLst/>
          </a:prstGeom>
          <a:solidFill>
            <a:srgbClr val="EDE9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37216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[E, C, F]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26110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61104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79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53542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until G is dequeued — goal reached!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4352544"/>
            <a:ext cx="1508760" cy="347472"/>
          </a:xfrm>
          <a:prstGeom prst="rect">
            <a:avLst/>
          </a:prstGeom>
          <a:solidFill>
            <a:srgbClr val="EDE9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43525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found!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BFS Path:   A  →  B  →  C  →  F  →  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Comparison of Representations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19456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219456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430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219456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430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143000"/>
            <a:ext cx="219456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1430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List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45336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453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545336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5453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 — efficient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545336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5453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always full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545336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5453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O(E) — most efficient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12264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122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Lookup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2112264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1122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O(n)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12264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122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O(1)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2112264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1122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O(E)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679192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67919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Traversal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679192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67919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679192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67919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O(n)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2679192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267919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 needed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2461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0" y="3246120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2461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graphs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246120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2461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graphs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3246120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32461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storage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813048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81304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0" y="3813048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6040" y="381304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813048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81304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3813048"/>
            <a:ext cx="21945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95160" y="381304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379976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37997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Graph Fit?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0" y="4379976"/>
            <a:ext cx="2194560" cy="56692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437997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best choice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54880" y="4379976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437997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wasteful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49440" y="4379976"/>
            <a:ext cx="219456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95160" y="437997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too limited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Real-World Applications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28600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188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Social networks (Facebook, LinkedIn)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Navigation systems and GPS routing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73736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Web crawlers and search engines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01168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Network topology mapping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41448"/>
            <a:ext cx="228600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4144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48716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Communication network routing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76148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Image processing algorithms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03580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Game development (pathfinding grids)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31012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Circuit board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39896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39896"/>
            <a:ext cx="228600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39896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378561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Importing/exporting graph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05993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Simple graph serialization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433425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Database relationship tables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60857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Minimal graph storage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Adjacency List?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4533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graph has 7 vertices and only 11 edges (22% density). The Adjacency List uses O(V+E) memory — far less than the O(n²) required by a Matrix. It also makes BFS faster.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04872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04872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BFS showed 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found the shortest path from A to G: A → B → C → F → G in just 5 steps. Its O(V+E) time complexity makes it practical for any graph using an Adjacency List.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66744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66744"/>
            <a:ext cx="6400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3075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takeaway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"best" representation. The right choice depends on graph density, the operations you need, and available memory. Knowing when to use each method is the real skill.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A2E4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K.H. (2012). Discrete Mathematics and Its Applications, 7th Edition. McGraw-Hill. (Chapter 10 — Graphs)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75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07568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Kimberly Brehm. Discrete Math 1.2.1 — Translating Propositional Logic Statements. YouTube.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16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916936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in 4 Minutes. (2018). YouTube. https://www.youtube.com/watch?v=HZ5YTanv5QE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58184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58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758184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Graphs. Discrete Math 10.1.1. YouTube. https://www.youtube.com/watch?v=QHmL0AnZ3Dc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 Project  ·  MATH113 Discrete Mathematics  ·  2024–2025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Representation Project</dc:title>
  <dc:subject>PptxGenJS Presentation</dc:subject>
  <dc:creator>PptxGenJS</dc:creator>
  <cp:lastModifiedBy>PptxGenJS</cp:lastModifiedBy>
  <cp:revision>39</cp:revision>
  <dcterms:created xsi:type="dcterms:W3CDTF">2026-05-16T14:57:40Z</dcterms:created>
  <dcterms:modified xsi:type="dcterms:W3CDTF">2026-05-16T15:05:36Z</dcterms:modified>
</cp:coreProperties>
</file>